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1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elle Sanogo" userId="496cd4d6e6f31cc5" providerId="LiveId" clId="{351A9CAA-6B74-4B96-8BFE-3846C7DCB2D3}"/>
    <pc:docChg chg="custSel modSld">
      <pc:chgData name="Arielle Sanogo" userId="496cd4d6e6f31cc5" providerId="LiveId" clId="{351A9CAA-6B74-4B96-8BFE-3846C7DCB2D3}" dt="2026-03-25T08:24:29.108" v="123" actId="20577"/>
      <pc:docMkLst>
        <pc:docMk/>
      </pc:docMkLst>
      <pc:sldChg chg="modSp mod">
        <pc:chgData name="Arielle Sanogo" userId="496cd4d6e6f31cc5" providerId="LiveId" clId="{351A9CAA-6B74-4B96-8BFE-3846C7DCB2D3}" dt="2026-03-25T08:23:13.724" v="89" actId="1076"/>
        <pc:sldMkLst>
          <pc:docMk/>
          <pc:sldMk cId="0" sldId="256"/>
        </pc:sldMkLst>
        <pc:spChg chg="mod">
          <ac:chgData name="Arielle Sanogo" userId="496cd4d6e6f31cc5" providerId="LiveId" clId="{351A9CAA-6B74-4B96-8BFE-3846C7DCB2D3}" dt="2026-03-25T08:23:13.724" v="89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23:05.692" v="88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22:59.331" v="87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22:53.043" v="86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22:46.685" v="85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22:29.749" v="83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22:38.450" v="84" actId="1076"/>
          <ac:spMkLst>
            <pc:docMk/>
            <pc:sldMk cId="0" sldId="256"/>
            <ac:spMk id="21" creationId="{00000000-0000-0000-0000-000000000000}"/>
          </ac:spMkLst>
        </pc:spChg>
      </pc:sldChg>
      <pc:sldChg chg="modSp mod">
        <pc:chgData name="Arielle Sanogo" userId="496cd4d6e6f31cc5" providerId="LiveId" clId="{351A9CAA-6B74-4B96-8BFE-3846C7DCB2D3}" dt="2026-03-25T07:57:51.395" v="41" actId="20577"/>
        <pc:sldMkLst>
          <pc:docMk/>
          <pc:sldMk cId="0" sldId="257"/>
        </pc:sldMkLst>
        <pc:spChg chg="mod">
          <ac:chgData name="Arielle Sanogo" userId="496cd4d6e6f31cc5" providerId="LiveId" clId="{351A9CAA-6B74-4B96-8BFE-3846C7DCB2D3}" dt="2026-03-25T07:57:51.395" v="41" actId="20577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Arielle Sanogo" userId="496cd4d6e6f31cc5" providerId="LiveId" clId="{351A9CAA-6B74-4B96-8BFE-3846C7DCB2D3}" dt="2026-03-25T08:24:29.108" v="123" actId="20577"/>
        <pc:sldMkLst>
          <pc:docMk/>
          <pc:sldMk cId="0" sldId="258"/>
        </pc:sldMkLst>
        <pc:spChg chg="mod">
          <ac:chgData name="Arielle Sanogo" userId="496cd4d6e6f31cc5" providerId="LiveId" clId="{351A9CAA-6B74-4B96-8BFE-3846C7DCB2D3}" dt="2026-03-25T08:24:29.108" v="123" actId="20577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Arielle Sanogo" userId="496cd4d6e6f31cc5" providerId="LiveId" clId="{351A9CAA-6B74-4B96-8BFE-3846C7DCB2D3}" dt="2026-03-25T08:02:26.957" v="51" actId="1036"/>
        <pc:sldMkLst>
          <pc:docMk/>
          <pc:sldMk cId="0" sldId="260"/>
        </pc:sldMkLst>
        <pc:spChg chg="mod">
          <ac:chgData name="Arielle Sanogo" userId="496cd4d6e6f31cc5" providerId="LiveId" clId="{351A9CAA-6B74-4B96-8BFE-3846C7DCB2D3}" dt="2026-03-25T08:01:16.278" v="43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02:26.957" v="51" actId="103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01:22.482" v="50" actId="20577"/>
          <ac:spMkLst>
            <pc:docMk/>
            <pc:sldMk cId="0" sldId="260"/>
            <ac:spMk id="26" creationId="{00000000-0000-0000-0000-000000000000}"/>
          </ac:spMkLst>
        </pc:spChg>
      </pc:sldChg>
      <pc:sldChg chg="modSp mod">
        <pc:chgData name="Arielle Sanogo" userId="496cd4d6e6f31cc5" providerId="LiveId" clId="{351A9CAA-6B74-4B96-8BFE-3846C7DCB2D3}" dt="2026-03-25T08:08:47.130" v="80" actId="1076"/>
        <pc:sldMkLst>
          <pc:docMk/>
          <pc:sldMk cId="0" sldId="262"/>
        </pc:sldMkLst>
        <pc:spChg chg="mod">
          <ac:chgData name="Arielle Sanogo" userId="496cd4d6e6f31cc5" providerId="LiveId" clId="{351A9CAA-6B74-4B96-8BFE-3846C7DCB2D3}" dt="2026-03-25T08:07:17.935" v="70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06:13.769" v="62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06:29.908" v="64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06:56.921" v="67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07:21.618" v="71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07:12.134" v="69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08:27.837" v="77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07:56.294" v="72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08:21.970" v="76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08:36.651" v="78" actId="107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08:41.895" v="79" actId="1076"/>
          <ac:spMkLst>
            <pc:docMk/>
            <pc:sldMk cId="0" sldId="262"/>
            <ac:spMk id="25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08:47.130" v="80" actId="107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04:39.612" v="53" actId="1076"/>
          <ac:spMkLst>
            <pc:docMk/>
            <pc:sldMk cId="0" sldId="262"/>
            <ac:spMk id="31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06:03.764" v="61" actId="1076"/>
          <ac:spMkLst>
            <pc:docMk/>
            <pc:sldMk cId="0" sldId="262"/>
            <ac:spMk id="32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05:51.681" v="60" actId="1076"/>
          <ac:spMkLst>
            <pc:docMk/>
            <pc:sldMk cId="0" sldId="262"/>
            <ac:spMk id="33" creationId="{00000000-0000-0000-0000-000000000000}"/>
          </ac:spMkLst>
        </pc:spChg>
        <pc:spChg chg="mod">
          <ac:chgData name="Arielle Sanogo" userId="496cd4d6e6f31cc5" providerId="LiveId" clId="{351A9CAA-6B74-4B96-8BFE-3846C7DCB2D3}" dt="2026-03-25T08:05:41.339" v="59" actId="1076"/>
          <ac:spMkLst>
            <pc:docMk/>
            <pc:sldMk cId="0" sldId="262"/>
            <ac:spMk id="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1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859536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006840" y="0"/>
            <a:ext cx="137160" cy="859536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859536"/>
            <a:ext cx="137160" cy="859536"/>
          </a:xfrm>
          <a:prstGeom prst="rect">
            <a:avLst/>
          </a:prstGeom>
          <a:solidFill>
            <a:srgbClr val="2A6B35"/>
          </a:solidFill>
          <a:ln w="12700">
            <a:solidFill>
              <a:srgbClr val="2A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006840" y="859536"/>
            <a:ext cx="137160" cy="859536"/>
          </a:xfrm>
          <a:prstGeom prst="rect">
            <a:avLst/>
          </a:prstGeom>
          <a:solidFill>
            <a:srgbClr val="2A6B35"/>
          </a:solidFill>
          <a:ln w="12700">
            <a:solidFill>
              <a:srgbClr val="2A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1719072"/>
            <a:ext cx="137160" cy="859536"/>
          </a:xfrm>
          <a:prstGeom prst="rect">
            <a:avLst/>
          </a:prstGeom>
          <a:solidFill>
            <a:srgbClr val="C8901A"/>
          </a:solidFill>
          <a:ln w="12700">
            <a:solidFill>
              <a:srgbClr val="C89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006840" y="1719072"/>
            <a:ext cx="137160" cy="859536"/>
          </a:xfrm>
          <a:prstGeom prst="rect">
            <a:avLst/>
          </a:prstGeom>
          <a:solidFill>
            <a:srgbClr val="C8901A"/>
          </a:solidFill>
          <a:ln w="12700">
            <a:solidFill>
              <a:srgbClr val="C89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2578608"/>
            <a:ext cx="137160" cy="859536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9006840" y="2578608"/>
            <a:ext cx="137160" cy="859536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3438144"/>
            <a:ext cx="137160" cy="859536"/>
          </a:xfrm>
          <a:prstGeom prst="rect">
            <a:avLst/>
          </a:prstGeom>
          <a:solidFill>
            <a:srgbClr val="E8761A"/>
          </a:solidFill>
          <a:ln w="12700">
            <a:solidFill>
              <a:srgbClr val="E876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9006840" y="3438144"/>
            <a:ext cx="137160" cy="859536"/>
          </a:xfrm>
          <a:prstGeom prst="rect">
            <a:avLst/>
          </a:prstGeom>
          <a:solidFill>
            <a:srgbClr val="E8761A"/>
          </a:solidFill>
          <a:ln w="12700">
            <a:solidFill>
              <a:srgbClr val="E876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0" y="4297680"/>
            <a:ext cx="137160" cy="859536"/>
          </a:xfrm>
          <a:prstGeom prst="rect">
            <a:avLst/>
          </a:prstGeom>
          <a:solidFill>
            <a:srgbClr val="3A8B47"/>
          </a:solidFill>
          <a:ln w="12700">
            <a:solidFill>
              <a:srgbClr val="3A8B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9006840" y="4297680"/>
            <a:ext cx="137160" cy="859536"/>
          </a:xfrm>
          <a:prstGeom prst="rect">
            <a:avLst/>
          </a:prstGeom>
          <a:solidFill>
            <a:srgbClr val="3A8B47"/>
          </a:solidFill>
          <a:ln w="12700">
            <a:solidFill>
              <a:srgbClr val="3A8B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892040" y="-55992"/>
            <a:ext cx="4114800" cy="4114800"/>
          </a:xfrm>
          <a:prstGeom prst="ellipse">
            <a:avLst/>
          </a:prstGeom>
          <a:solidFill>
            <a:srgbClr val="D4580A">
              <a:alpha val="15000"/>
            </a:srgbClr>
          </a:solidFill>
          <a:ln w="12700">
            <a:solidFill>
              <a:srgbClr val="D4580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943600" y="182880"/>
            <a:ext cx="2743200" cy="2743200"/>
          </a:xfrm>
          <a:prstGeom prst="ellipse">
            <a:avLst/>
          </a:prstGeom>
          <a:solidFill>
            <a:srgbClr val="C8901A">
              <a:alpha val="10000"/>
            </a:srgbClr>
          </a:solidFill>
          <a:ln w="12700">
            <a:solidFill>
              <a:srgbClr val="C890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154420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🌺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365760" y="2395164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MamaMarket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365760" y="332959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89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Côte d'Ivoire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65760" y="3743389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première marketplace africaine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femmes entrepreneures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4560698"/>
            <a:ext cx="2560320" cy="45720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63018" y="456069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🛍️  Pitch de présentation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5C2D0A"/>
          </a:solidFill>
          <a:ln w="12700">
            <a:solidFill>
              <a:srgbClr val="5C2D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 Le Problème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4C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73152" cy="155448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🏪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1325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difficiles d'accès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femmes vendent dans des marchés éparpillés à travers Abidjan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4C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73152" cy="155448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006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86400" y="1325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présence digitale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vendeuses des petits marchés n'ont pas de vitrine en ligne pour toucher plus de clientes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4C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73152" cy="155448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0292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🚶‍♀️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88720" y="3063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Déplacements coûteux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474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clientes doivent se déplacer dans plusieurs quartiers pour trouver leurs produits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4C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73152" cy="155448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0060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3063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non sécurisé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3474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système de paiement fiable entre vendeuses et clientes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289304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289304"/>
            <a:ext cx="164592" cy="1289304"/>
          </a:xfrm>
          <a:prstGeom prst="rect">
            <a:avLst/>
          </a:prstGeom>
          <a:solidFill>
            <a:srgbClr val="C8901A"/>
          </a:solidFill>
          <a:ln w="12700">
            <a:solidFill>
              <a:srgbClr val="C89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2578608"/>
            <a:ext cx="164592" cy="1289304"/>
          </a:xfrm>
          <a:prstGeom prst="rect">
            <a:avLst/>
          </a:prstGeom>
          <a:solidFill>
            <a:srgbClr val="E8761A"/>
          </a:solidFill>
          <a:ln w="12700">
            <a:solidFill>
              <a:srgbClr val="E876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3867912"/>
            <a:ext cx="164592" cy="1289304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La Solution </a:t>
            </a:r>
            <a:r>
              <a:rPr lang="en-US" sz="3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MamaMarket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complète qui connecte vendeuses, clientes et faiseuses de marché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274320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640080" cy="640080"/>
          </a:xfrm>
          <a:prstGeom prst="ellipse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🛍️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16733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en ligne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07568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Boutiques digitales pour toutes les vendeuses du marché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508760"/>
            <a:ext cx="274320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337560" y="1737360"/>
            <a:ext cx="640080" cy="640080"/>
          </a:xfrm>
          <a:prstGeom prst="ellipse">
            <a:avLst/>
          </a:prstGeom>
          <a:solidFill>
            <a:srgbClr val="C8901A"/>
          </a:solidFill>
          <a:ln w="12700">
            <a:solidFill>
              <a:srgbClr val="C89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3375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🧺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069080" y="16733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Faiseuse de Marché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69080" y="207568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femme collecte les produits et remet au livreur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508760"/>
            <a:ext cx="274320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263640" y="173736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2636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95160" y="16733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MamaPay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207568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sécurisé Orange Money, Wave et Carte bancaire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200400"/>
            <a:ext cx="274320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11480" y="3429000"/>
            <a:ext cx="640080" cy="64008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1148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43000" y="33649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Négociation de prix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376732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négociation entre clientes et vendeuses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3200400"/>
            <a:ext cx="274320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337560" y="3429000"/>
            <a:ext cx="640080" cy="640080"/>
          </a:xfrm>
          <a:prstGeom prst="ellipse">
            <a:avLst/>
          </a:prstGeom>
          <a:solidFill>
            <a:srgbClr val="3A8B47"/>
          </a:solidFill>
          <a:ln w="12700">
            <a:solidFill>
              <a:srgbClr val="3A8B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33756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069080" y="33649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Marché = 1 Commande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69080" y="376732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claire par marché pour optimiser la collecte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3200400"/>
            <a:ext cx="274320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263640" y="3429000"/>
            <a:ext cx="640080" cy="640080"/>
          </a:xfrm>
          <a:prstGeom prst="ellipse">
            <a:avLst/>
          </a:prstGeom>
          <a:solidFill>
            <a:srgbClr val="C8901A"/>
          </a:solidFill>
          <a:ln w="12700">
            <a:solidFill>
              <a:srgbClr val="C89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26364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995160" y="33649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HerScore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376732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notation pour valoriser les meilleures vendeuses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A1205"/>
          </a:solidFill>
          <a:ln w="12700">
            <a:solidFill>
              <a:srgbClr val="2A120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👥  Les 3 Acteurs de MamaMarket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3657600"/>
          </a:xfrm>
          <a:prstGeom prst="rect">
            <a:avLst/>
          </a:prstGeom>
          <a:solidFill>
            <a:srgbClr val="FDF0E3"/>
          </a:solidFill>
          <a:ln w="12700">
            <a:solidFill>
              <a:srgbClr val="D4580A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73152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280160" y="1371600"/>
            <a:ext cx="731520" cy="731520"/>
          </a:xfrm>
          <a:prstGeom prst="ellipse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🛍️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5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Acheteuse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2A1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en ligne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2A1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Choisit son marché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2A1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Négocie les prix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2A1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 via MamaPay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2743200" cy="3657600"/>
          </a:xfrm>
          <a:prstGeom prst="rect">
            <a:avLst/>
          </a:prstGeom>
          <a:solidFill>
            <a:srgbClr val="E8F5EB"/>
          </a:solidFill>
          <a:ln w="12700">
            <a:solidFill>
              <a:srgbClr val="2A6B35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0" y="1188720"/>
            <a:ext cx="2743200" cy="73152"/>
          </a:xfrm>
          <a:prstGeom prst="rect">
            <a:avLst/>
          </a:prstGeom>
          <a:solidFill>
            <a:srgbClr val="2A6B35"/>
          </a:solidFill>
          <a:ln w="12700">
            <a:solidFill>
              <a:srgbClr val="2A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2A6B35"/>
          </a:solidFill>
          <a:ln w="12700">
            <a:solidFill>
              <a:srgbClr val="2A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3756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Vendeuse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2A1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en ligne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2A1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ses produits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2A1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les commandes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2A1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Payée via MamaPay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1188720"/>
            <a:ext cx="2743200" cy="3657600"/>
          </a:xfrm>
          <a:prstGeom prst="rect">
            <a:avLst/>
          </a:prstGeom>
          <a:solidFill>
            <a:srgbClr val="F5EEFF"/>
          </a:solidFill>
          <a:ln w="12700">
            <a:solidFill>
              <a:srgbClr val="7B3F9E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126480" y="1188720"/>
            <a:ext cx="2743200" cy="73152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7132320" y="1371600"/>
            <a:ext cx="731520" cy="731520"/>
          </a:xfrm>
          <a:prstGeom prst="ellipse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1323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🧺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6364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3F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Faiseuse de Marché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936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2A1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les missions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2A1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au marché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2A1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Remet au livreur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2A1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Payée par collecte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01A"/>
          </a:solidFill>
          <a:ln w="12700">
            <a:solidFill>
              <a:srgbClr val="C89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2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Fonctionnalités Clés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188720"/>
          </a:xfrm>
          <a:prstGeom prst="rect">
            <a:avLst/>
          </a:prstGeom>
          <a:solidFill>
            <a:srgbClr val="FBF5E8"/>
          </a:solidFill>
          <a:ln w="12700">
            <a:solidFill>
              <a:srgbClr val="F0E4C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64008" cy="118872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84048" y="1234440"/>
            <a:ext cx="640080" cy="640080"/>
          </a:xfrm>
          <a:prstGeom prst="ellipse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84048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🏪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097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Pages 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508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Index, produits, panier, paiement, boutique, inscription, dashboard vendeuse, espace faiseuse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1188720"/>
          </a:xfrm>
          <a:prstGeom prst="rect">
            <a:avLst/>
          </a:prstGeom>
          <a:solidFill>
            <a:srgbClr val="FBF5E8"/>
          </a:solidFill>
          <a:ln w="12700">
            <a:solidFill>
              <a:srgbClr val="F0E4C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64008" cy="1188720"/>
          </a:xfrm>
          <a:prstGeom prst="rect">
            <a:avLst/>
          </a:prstGeom>
          <a:solidFill>
            <a:srgbClr val="2A6B35"/>
          </a:solidFill>
          <a:ln w="12700">
            <a:solidFill>
              <a:srgbClr val="2A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73168" y="1234440"/>
            <a:ext cx="640080" cy="640080"/>
          </a:xfrm>
          <a:prstGeom prst="ellipse">
            <a:avLst/>
          </a:prstGeom>
          <a:solidFill>
            <a:srgbClr val="2A6B35"/>
          </a:solidFill>
          <a:ln w="12700">
            <a:solidFill>
              <a:srgbClr val="2A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73168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32120" y="1097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1 Marché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1508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commande regroupe uniquement des produits du même marché d'Abidjan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4114800" cy="1188720"/>
          </a:xfrm>
          <a:prstGeom prst="rect">
            <a:avLst/>
          </a:prstGeom>
          <a:solidFill>
            <a:srgbClr val="FBF5E8"/>
          </a:solidFill>
          <a:ln w="12700">
            <a:solidFill>
              <a:srgbClr val="F0E4C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64008" cy="1188720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84048" y="2560320"/>
            <a:ext cx="640080" cy="640080"/>
          </a:xfrm>
          <a:prstGeom prst="ellipse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84048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2423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Négociation de Prix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28346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chat avec slider de prix, réponse automatique et contre-offre en temps réel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336533"/>
            <a:ext cx="4114800" cy="1188720"/>
          </a:xfrm>
          <a:prstGeom prst="rect">
            <a:avLst/>
          </a:prstGeom>
          <a:solidFill>
            <a:srgbClr val="FBF5E8"/>
          </a:solidFill>
          <a:ln w="12700">
            <a:solidFill>
              <a:srgbClr val="F0E4C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663440" y="2331720"/>
            <a:ext cx="64008" cy="1188720"/>
          </a:xfrm>
          <a:prstGeom prst="rect">
            <a:avLst/>
          </a:prstGeom>
          <a:solidFill>
            <a:srgbClr val="5C2D0A"/>
          </a:solidFill>
          <a:ln w="12700">
            <a:solidFill>
              <a:srgbClr val="5C2D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773168" y="2560320"/>
            <a:ext cx="640080" cy="640080"/>
          </a:xfrm>
          <a:prstGeom prst="ellipse">
            <a:avLst/>
          </a:prstGeom>
          <a:solidFill>
            <a:srgbClr val="5C2D0A"/>
          </a:solidFill>
          <a:ln w="12700">
            <a:solidFill>
              <a:srgbClr val="5C2D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773168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32120" y="2423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2120" y="28346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avec JWT, MySQL, 9 tables, 3 rôles utilisateurs sécurisés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4114800" cy="1188720"/>
          </a:xfrm>
          <a:prstGeom prst="rect">
            <a:avLst/>
          </a:prstGeom>
          <a:solidFill>
            <a:srgbClr val="FBF5E8"/>
          </a:solidFill>
          <a:ln w="12700">
            <a:solidFill>
              <a:srgbClr val="F0E4C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274320" y="3657600"/>
            <a:ext cx="64008" cy="1188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84048" y="3886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84048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43000" y="3749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MamaPay Intégré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43000" y="4160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CinetPay : Orange Money CI, Wave, Carte bancaire — paiement 100% sécurisé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657600"/>
            <a:ext cx="4114800" cy="1188720"/>
          </a:xfrm>
          <a:prstGeom prst="rect">
            <a:avLst/>
          </a:prstGeom>
          <a:solidFill>
            <a:srgbClr val="FBF5E8"/>
          </a:solidFill>
          <a:ln w="12700">
            <a:solidFill>
              <a:srgbClr val="F0E4C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663440" y="3657600"/>
            <a:ext cx="64008" cy="1188720"/>
          </a:xfrm>
          <a:prstGeom prst="rect">
            <a:avLst/>
          </a:prstGeom>
          <a:solidFill>
            <a:srgbClr val="C8901A"/>
          </a:solidFill>
          <a:ln w="12700">
            <a:solidFill>
              <a:srgbClr val="C89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773168" y="3886200"/>
            <a:ext cx="640080" cy="640080"/>
          </a:xfrm>
          <a:prstGeom prst="ellipse">
            <a:avLst/>
          </a:prstGeom>
          <a:solidFill>
            <a:srgbClr val="C8901A"/>
          </a:solidFill>
          <a:ln w="12700">
            <a:solidFill>
              <a:srgbClr val="C89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73168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🌺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532120" y="3749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Africain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532120" y="4160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Tissus wax, kente, bogolan — identité visuelle 100% ivoirienne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🛠️  Stack Technique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023360" cy="35661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D4580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50292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JavaScript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9397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wax &amp; kente africain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8775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pages responsives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815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CSS avancées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7530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négociation JS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photos locales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4023360" cy="35661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2A6B3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46320" y="1005840"/>
            <a:ext cx="4023360" cy="502920"/>
          </a:xfrm>
          <a:prstGeom prst="rect">
            <a:avLst/>
          </a:prstGeom>
          <a:solidFill>
            <a:srgbClr val="2A6B35"/>
          </a:solidFill>
          <a:ln w="12700">
            <a:solidFill>
              <a:srgbClr val="2A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6002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 + Laravel 11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09397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9 tables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58775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0815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rôles utilisateurs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57530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complète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40690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CinetPay (Orange Money, Wave)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15968" y="2560320"/>
            <a:ext cx="512064" cy="182880"/>
          </a:xfrm>
          <a:prstGeom prst="rect">
            <a:avLst/>
          </a:prstGeom>
          <a:solidFill>
            <a:srgbClr val="C8901A"/>
          </a:solidFill>
          <a:ln w="12700">
            <a:solidFill>
              <a:srgbClr val="C89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315968" y="237744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901A"/>
                </a:solidFill>
              </a:rPr>
              <a:t>API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0A"/>
          </a:solidFill>
          <a:ln w="12700">
            <a:solidFill>
              <a:srgbClr val="5C2D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🗄️  Base de Données — 9 Tables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73737" y="931245"/>
            <a:ext cx="2788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580A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788920" cy="347472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82880" y="914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" y="128401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608" y="147146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6824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email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1852863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2012161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marche_principal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82112" y="914400"/>
            <a:ext cx="2788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6B35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182112" y="914400"/>
            <a:ext cx="2788920" cy="347472"/>
          </a:xfrm>
          <a:prstGeom prst="rect">
            <a:avLst/>
          </a:prstGeom>
          <a:solidFill>
            <a:srgbClr val="2A6B35"/>
          </a:solidFill>
          <a:ln w="12700">
            <a:solidFill>
              <a:srgbClr val="2A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182112" y="914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298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14996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0" y="17007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91840" y="1901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point_remise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81343" y="914400"/>
            <a:ext cx="2788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C2D0A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181344" y="914400"/>
            <a:ext cx="2788920" cy="347472"/>
          </a:xfrm>
          <a:prstGeom prst="rect">
            <a:avLst/>
          </a:prstGeom>
          <a:solidFill>
            <a:srgbClr val="5C2D0A"/>
          </a:solidFill>
          <a:ln w="12700">
            <a:solidFill>
              <a:srgbClr val="5C2D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181344" y="914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91072" y="128401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04787" y="1453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91072" y="166180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prix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91071" y="1844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categorie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91071" y="19965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marche_id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2286000"/>
            <a:ext cx="2788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182880" y="2286000"/>
            <a:ext cx="2788920" cy="3474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182880" y="22860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92608" y="2670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92608" y="279277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reference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92608" y="2968671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client_id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92608" y="3169961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marche_id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3358977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statut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82112" y="2286000"/>
            <a:ext cx="2788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3F9E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3182112" y="2286000"/>
            <a:ext cx="2788920" cy="347472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182112" y="22860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commande_items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91840" y="2670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91840" y="28712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commande_id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91840" y="30723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produit_id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91840" y="3273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prix_nego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81344" y="2286000"/>
            <a:ext cx="2788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901A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181344" y="2286000"/>
            <a:ext cx="2788920" cy="347472"/>
          </a:xfrm>
          <a:prstGeom prst="rect">
            <a:avLst/>
          </a:prstGeom>
          <a:solidFill>
            <a:srgbClr val="C8901A"/>
          </a:solidFill>
          <a:ln w="12700">
            <a:solidFill>
              <a:srgbClr val="C89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181344" y="22860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91072" y="2670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91072" y="28712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commande_id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91072" y="30723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coursiere_id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91072" y="3273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statut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82880" y="3657600"/>
            <a:ext cx="2788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182880" y="3657600"/>
            <a:ext cx="278892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182880" y="36576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negociations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292608" y="4041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92608" y="4242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produit_id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92608" y="44439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client_id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92608" y="4645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prix_propose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182112" y="3657600"/>
            <a:ext cx="2788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3182112" y="3657600"/>
            <a:ext cx="2788920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3182112" y="36576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3291840" y="4041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291840" y="4242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reference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291840" y="44439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commande_id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291840" y="4645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methode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181344" y="3657600"/>
            <a:ext cx="2788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6181344" y="3657600"/>
            <a:ext cx="278892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6181344" y="36576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291072" y="4041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291072" y="4242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produit_id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291072" y="44439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client_id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291072" y="4645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note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12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0" cy="109728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1524000" cy="109728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524000" y="0"/>
            <a:ext cx="1524000" cy="109728"/>
          </a:xfrm>
          <a:prstGeom prst="rect">
            <a:avLst/>
          </a:prstGeom>
          <a:solidFill>
            <a:srgbClr val="2A6B35"/>
          </a:solidFill>
          <a:ln w="12700">
            <a:solidFill>
              <a:srgbClr val="2A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524000" y="5033772"/>
            <a:ext cx="1524000" cy="109728"/>
          </a:xfrm>
          <a:prstGeom prst="rect">
            <a:avLst/>
          </a:prstGeom>
          <a:solidFill>
            <a:srgbClr val="2A6B35"/>
          </a:solidFill>
          <a:ln w="12700">
            <a:solidFill>
              <a:srgbClr val="2A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48000" y="0"/>
            <a:ext cx="1524000" cy="109728"/>
          </a:xfrm>
          <a:prstGeom prst="rect">
            <a:avLst/>
          </a:prstGeom>
          <a:solidFill>
            <a:srgbClr val="C8901A"/>
          </a:solidFill>
          <a:ln w="12700">
            <a:solidFill>
              <a:srgbClr val="C89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048000" y="5033772"/>
            <a:ext cx="1524000" cy="109728"/>
          </a:xfrm>
          <a:prstGeom prst="rect">
            <a:avLst/>
          </a:prstGeom>
          <a:solidFill>
            <a:srgbClr val="C8901A"/>
          </a:solidFill>
          <a:ln w="12700">
            <a:solidFill>
              <a:srgbClr val="C89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72000" y="0"/>
            <a:ext cx="1524000" cy="10972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572000" y="5033772"/>
            <a:ext cx="1524000" cy="10972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096000" y="0"/>
            <a:ext cx="1524000" cy="109728"/>
          </a:xfrm>
          <a:prstGeom prst="rect">
            <a:avLst/>
          </a:prstGeom>
          <a:solidFill>
            <a:srgbClr val="E8761A"/>
          </a:solidFill>
          <a:ln w="12700">
            <a:solidFill>
              <a:srgbClr val="E876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096000" y="5033772"/>
            <a:ext cx="1524000" cy="109728"/>
          </a:xfrm>
          <a:prstGeom prst="rect">
            <a:avLst/>
          </a:prstGeom>
          <a:solidFill>
            <a:srgbClr val="E8761A"/>
          </a:solidFill>
          <a:ln w="12700">
            <a:solidFill>
              <a:srgbClr val="E876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620000" y="0"/>
            <a:ext cx="1524000" cy="109728"/>
          </a:xfrm>
          <a:prstGeom prst="rect">
            <a:avLst/>
          </a:prstGeom>
          <a:solidFill>
            <a:srgbClr val="3A8B47"/>
          </a:solidFill>
          <a:ln w="12700">
            <a:solidFill>
              <a:srgbClr val="3A8B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7620000" y="5033772"/>
            <a:ext cx="1524000" cy="109728"/>
          </a:xfrm>
          <a:prstGeom prst="rect">
            <a:avLst/>
          </a:prstGeom>
          <a:solidFill>
            <a:srgbClr val="3A8B47"/>
          </a:solidFill>
          <a:ln w="12700">
            <a:solidFill>
              <a:srgbClr val="3A8B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D4580A">
              <a:alpha val="8000"/>
            </a:srgbClr>
          </a:solidFill>
          <a:ln w="12700">
            <a:solidFill>
              <a:srgbClr val="D4580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02336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🌺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MamaMarket CI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89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Empowering Women, One Market at a Time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2880360"/>
            <a:ext cx="17373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31520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4 200+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31520" y="3657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Vendeuses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0" y="2880360"/>
            <a:ext cx="17373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743200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743200" y="3657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880360"/>
            <a:ext cx="17373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754880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754880" y="3657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2880360"/>
            <a:ext cx="17373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766560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766560" y="3657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560</Words>
  <Application>Microsoft Office PowerPoint</Application>
  <PresentationFormat>Affichage à l'écran (16:9)</PresentationFormat>
  <Paragraphs>161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MamaMarket CI</dc:title>
  <dc:subject>PptxGenJS Presentation</dc:subject>
  <dc:creator>PptxGenJS</dc:creator>
  <cp:lastModifiedBy>Arielle Sanogo</cp:lastModifiedBy>
  <cp:revision>1</cp:revision>
  <dcterms:created xsi:type="dcterms:W3CDTF">2026-03-25T07:48:39Z</dcterms:created>
  <dcterms:modified xsi:type="dcterms:W3CDTF">2026-03-25T08:31:14Z</dcterms:modified>
</cp:coreProperties>
</file>